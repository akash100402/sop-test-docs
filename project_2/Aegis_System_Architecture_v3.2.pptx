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o Black" charset="1" panose="020B0A03020202020B04"/>
      <p:regular r:id="rId15"/>
    </p:embeddedFont>
    <p:embeddedFont>
      <p:font typeface="Garet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 Compliance Orchestration Engine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14923" y="3413552"/>
            <a:ext cx="14461536" cy="135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22"/>
              </a:lnSpc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AEGIS: CORE SYSTEM ARCHITECTURE</a:t>
            </a:r>
          </a:p>
          <a:p>
            <a:pPr algn="r">
              <a:lnSpc>
                <a:spcPts val="3422"/>
              </a:lnSpc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algn="r" marL="0" indent="0" lvl="0">
              <a:lnSpc>
                <a:spcPts val="342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885470" y="7012748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- Ben Carter, Lead Solutions Architect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5361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52740" y="2512060"/>
            <a:ext cx="6472089" cy="345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Pr</a:t>
            </a: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oject Overview &amp; Business Value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High-Level System Architecture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The Rules Engine - How It Works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Key Integration &amp; External API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Deployment and Scale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Monitor and Debug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7. Q&amp;A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19340" y="2721610"/>
            <a:ext cx="14995475" cy="230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Problem: Manual compliance checks take 72+ hours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Solution: Automated engine delivers verdict in &lt;200ms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Impact: Enables "Global Connect" launch | $2.4M annual risk reduction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Regulations: GDPR, CCPA, APAC Data Framework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9356" y="1042359"/>
            <a:ext cx="12084844" cy="152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  <a:spcBef>
                <a:spcPct val="0"/>
              </a:spcBef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</a:t>
            </a: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OJECT AEGIS — OVERVIEW &amp; OBJECTIVE</a:t>
            </a:r>
          </a:p>
          <a:p>
            <a:pPr algn="ctr">
              <a:lnSpc>
                <a:spcPts val="61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90" y="2271394"/>
            <a:ext cx="15329297" cy="455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Flow: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Client → Ingestion Gateway → </a:t>
            </a:r>
            <a:r>
              <a:rPr lang="en-US" b="true" sz="3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Kafka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Microservices → Output</a:t>
            </a:r>
          </a:p>
          <a:p>
            <a:pPr algn="l" marL="712462" indent="-356231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Core Services:</a:t>
            </a:r>
          </a:p>
          <a:p>
            <a:pPr algn="l" marL="712462" indent="-356231" lvl="1">
              <a:lnSpc>
                <a:spcPts val="4619"/>
              </a:lnSpc>
              <a:buAutoNum type="arabicPeriod" startAt="1"/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Enricher (Adds context)</a:t>
            </a:r>
          </a:p>
          <a:p>
            <a:pPr algn="l" marL="712462" indent="-356231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Rules Engine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(Decision brain)</a:t>
            </a:r>
          </a:p>
          <a:p>
            <a:pPr algn="l" marL="712462" indent="-356231" lvl="1">
              <a:lnSpc>
                <a:spcPts val="4619"/>
              </a:lnSpc>
              <a:buAutoNum type="arabicPeriod" startAt="1"/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Audit Logger (Immutable trail)</a:t>
            </a:r>
          </a:p>
          <a:p>
            <a:pPr algn="l" marL="712462" indent="-356231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Stores: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Rule DB + Audit Ledger (PostgreSQL)</a:t>
            </a:r>
          </a:p>
          <a:p>
            <a:pPr algn="l" marL="712462" indent="-356231" lvl="1">
              <a:lnSpc>
                <a:spcPts val="4619"/>
              </a:lnSpc>
              <a:buAutoNum type="arabicPeriod" startAt="1"/>
            </a:pPr>
            <a:r>
              <a:rPr lang="en-US" b="true" sz="3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External:</a:t>
            </a: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Regulatory API (SOAP)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AutoNum type="arabicPeriod" startAt="1"/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2318842" y="773552"/>
            <a:ext cx="17488644" cy="75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  <a:spcBef>
                <a:spcPct val="0"/>
              </a:spcBef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HIGH-LEVEL ARCHITECTURE 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90" y="2366644"/>
            <a:ext cx="13633847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Input: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Enriched transaction + Rule Matrix + External API data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Logic: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Weighted scoring from </a:t>
            </a: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Rule_Precedence_Matrix.xlsx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Output: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Compliance Score (0-100%)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Decision: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≥95%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Approved Channel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&lt;95%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→ Human Review Dashboard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2318842" y="773552"/>
            <a:ext cx="17488644" cy="152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  <a:spcBef>
                <a:spcPct val="0"/>
              </a:spcBef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</a:t>
            </a: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HE RULES ENGINE - HOW IT WORKS</a:t>
            </a:r>
          </a:p>
          <a:p>
            <a:pPr algn="ctr">
              <a:lnSpc>
                <a:spcPts val="61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90" y="2366644"/>
            <a:ext cx="13606611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Challenge: 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nreliable SOAP service with complex responses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Our Solution: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Circuit Breaker (Fail fast)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etry with backoff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Deep XML parsing (3+ layers)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Business-approved fallback to manual review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2318842" y="773552"/>
            <a:ext cx="17488644" cy="152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  <a:spcBef>
                <a:spcPct val="0"/>
              </a:spcBef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</a:t>
            </a: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EY INTEGRATION: EXTERNAL API</a:t>
            </a:r>
          </a:p>
          <a:p>
            <a:pPr algn="ctr">
              <a:lnSpc>
                <a:spcPts val="61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90" y="2366644"/>
            <a:ext cx="11667976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Platform: Kubernetes (EKS)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Co</a:t>
            </a: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nfig: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HPA: Scales on Kafka consumer lag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Probes: Liveness = Health + DB check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Secrets: HashiCorp Vault injected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Stateless Design: All services scale horizontally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2318842" y="773552"/>
            <a:ext cx="17488644" cy="152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  <a:spcBef>
                <a:spcPct val="0"/>
              </a:spcBef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</a:t>
            </a: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EPLOYMENT &amp; SCALE</a:t>
            </a:r>
          </a:p>
          <a:p>
            <a:pPr algn="ctr">
              <a:lnSpc>
                <a:spcPts val="614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2190" y="2366644"/>
            <a:ext cx="12357348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Dashboards (Grafana):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Latency </a:t>
            </a: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P95 (&lt;200ms alert)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Error Rate (External API focus)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Kafka Lag (Scaling trigger)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"G</a:t>
            </a: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rey Zone" Scores (90-95% = potential rule issue)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Debugging: Trace everything via Aegis-ID in logs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-2318842" y="773552"/>
            <a:ext cx="17488644" cy="75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  <a:spcBef>
                <a:spcPct val="0"/>
              </a:spcBef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MONITOR AND DEBUG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979177"/>
            <a:ext cx="17488644" cy="75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  <a:spcBef>
                <a:spcPct val="0"/>
              </a:spcBef>
            </a:pPr>
            <a:r>
              <a:rPr lang="en-US" sz="4387" spc="-3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DAG6PjNm1yU</dc:identifier>
  <dcterms:modified xsi:type="dcterms:W3CDTF">2011-08-01T06:04:30Z</dcterms:modified>
  <cp:revision>1</cp:revision>
  <dc:title>Project Aegis: Core System Architecture Version 3.2 | Confidential &amp; Proprietary Subtitle: Real-Time Compliance Orchestration Engine Presenter: Ben Carter, Lead Solutions Architect Date: October 2023</dc:title>
</cp:coreProperties>
</file>